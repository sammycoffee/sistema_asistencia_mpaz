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BM Plex Sans Thai Light" charset="1" panose="020B0403050203000203"/>
      <p:regular r:id="rId24"/>
    </p:embeddedFont>
    <p:embeddedFont>
      <p:font typeface="Montaser Arabic Heavy" charset="1" panose="00000A00000000000000"/>
      <p:regular r:id="rId25"/>
    </p:embeddedFont>
    <p:embeddedFont>
      <p:font typeface="Montaser Arabic Medium" charset="1" panose="00000600000000000000"/>
      <p:regular r:id="rId26"/>
    </p:embeddedFont>
    <p:embeddedFont>
      <p:font typeface="IBM Plex Sans Thai" charset="1" panose="020B0503050203000203"/>
      <p:regular r:id="rId27"/>
    </p:embeddedFont>
    <p:embeddedFont>
      <p:font typeface="Montaser Arabic" charset="1" panose="00000500000000000000"/>
      <p:regular r:id="rId28"/>
    </p:embeddedFont>
    <p:embeddedFont>
      <p:font typeface="IBM Plex Sans Thai Bold" charset="1" panose="020B080305020300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766068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2671373" y="0"/>
            <a:ext cx="0" cy="1028700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906000" y="685800"/>
            <a:ext cx="73533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9575" y="7896225"/>
            <a:ext cx="2038350" cy="67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75"/>
              </a:lnSpc>
              <a:spcBef>
                <a:spcPct val="0"/>
              </a:spcBef>
            </a:pPr>
            <a:r>
              <a:rPr lang="en-US" sz="982" strike="noStrike" u="none">
                <a:solidFill>
                  <a:srgbClr val="FFFFFF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Proyecto APT – Capstone 2026</a:t>
            </a:r>
          </a:p>
          <a:p>
            <a:pPr algn="just" marL="0" indent="0" lvl="0">
              <a:lnSpc>
                <a:spcPts val="1375"/>
              </a:lnSpc>
              <a:spcBef>
                <a:spcPct val="0"/>
              </a:spcBef>
            </a:pPr>
            <a:r>
              <a:rPr lang="en-US" sz="982" strike="noStrike" u="none">
                <a:solidFill>
                  <a:srgbClr val="FFFFFF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Lucas Baeza</a:t>
            </a:r>
          </a:p>
          <a:p>
            <a:pPr algn="just" marL="0" indent="0" lvl="0">
              <a:lnSpc>
                <a:spcPts val="1375"/>
              </a:lnSpc>
              <a:spcBef>
                <a:spcPct val="0"/>
              </a:spcBef>
            </a:pPr>
            <a:r>
              <a:rPr lang="en-US" sz="982" strike="noStrike" u="none">
                <a:solidFill>
                  <a:srgbClr val="FFFFFF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Samantha Tapia</a:t>
            </a:r>
          </a:p>
          <a:p>
            <a:pPr algn="just" marL="0" indent="0" lvl="0">
              <a:lnSpc>
                <a:spcPts val="1375"/>
              </a:lnSpc>
              <a:spcBef>
                <a:spcPct val="0"/>
              </a:spcBef>
            </a:pPr>
            <a:r>
              <a:rPr lang="en-US" sz="982" strike="noStrike" u="none">
                <a:solidFill>
                  <a:srgbClr val="FFFFFF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Ingeniería en Informática – Duoc UC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0" y="990600"/>
            <a:ext cx="73533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Ingeniería en Informática – Duoc UC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97695" y="5534533"/>
            <a:ext cx="13861605" cy="23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161"/>
              </a:lnSpc>
            </a:pPr>
            <a:r>
              <a:rPr lang="en-US" b="true" sz="6352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Sistema de Asistencia Escolar Automatizada mediante tecnología NFC/RFID</a:t>
            </a:r>
          </a:p>
        </p:txBody>
      </p:sp>
      <p:sp>
        <p:nvSpPr>
          <p:cNvPr name="AutoShape 8" id="8"/>
          <p:cNvSpPr/>
          <p:nvPr/>
        </p:nvSpPr>
        <p:spPr>
          <a:xfrm>
            <a:off x="10767060" y="8191500"/>
            <a:ext cx="649224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798356" y="8313614"/>
            <a:ext cx="1034558" cy="1471570"/>
          </a:xfrm>
          <a:custGeom>
            <a:avLst/>
            <a:gdLst/>
            <a:ahLst/>
            <a:cxnLst/>
            <a:rect r="r" b="b" t="t" l="l"/>
            <a:pathLst>
              <a:path h="1471570" w="1034558">
                <a:moveTo>
                  <a:pt x="0" y="0"/>
                </a:moveTo>
                <a:lnTo>
                  <a:pt x="1034559" y="0"/>
                </a:lnTo>
                <a:lnTo>
                  <a:pt x="1034559" y="1471570"/>
                </a:lnTo>
                <a:lnTo>
                  <a:pt x="0" y="147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 flipV="true">
            <a:off x="8808957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281082" y="327975"/>
            <a:ext cx="11396268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26"/>
              </a:lnSpc>
            </a:pPr>
            <a:r>
              <a:rPr lang="en-US" b="true" sz="7194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Problemática Actual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80848" y="7665458"/>
            <a:ext cx="4530281" cy="24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62"/>
              </a:lnSpc>
            </a:pPr>
            <a:r>
              <a:rPr lang="en-US" sz="1473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555" y="3010913"/>
            <a:ext cx="6517202" cy="198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❌  Proceso Manual</a:t>
            </a:r>
          </a:p>
          <a:p>
            <a:pPr algn="l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📋  Consumo excesivo de tiempo docente y administrativo en el registro diario</a:t>
            </a:r>
          </a:p>
          <a:p>
            <a:pPr algn="l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✏️  Errores de digitación y registros incompletos o duplicados</a:t>
            </a:r>
          </a:p>
          <a:p>
            <a:pPr algn="l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🗂️  Dificultad para consultar el historial de asistencia de forma ágil</a:t>
            </a:r>
          </a:p>
          <a:p>
            <a:pPr algn="l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⏳  Retraso en la generación de reportes y estadísticas</a:t>
            </a:r>
          </a:p>
          <a:p>
            <a:pPr algn="l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🚫  Falta de información centralizada, actualizada y accesible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42098" y="6757817"/>
            <a:ext cx="6517202" cy="227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 Solución Automatizada</a:t>
            </a:r>
          </a:p>
          <a:p>
            <a:pPr algn="r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⚡  Registro instantáneo mediante tarjeta NFC/RFID sin intervención manual</a:t>
            </a:r>
          </a:p>
          <a:p>
            <a:pPr algn="r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🔒  Validación automática que reduce errores y previene duplicados</a:t>
            </a:r>
          </a:p>
          <a:p>
            <a:pPr algn="r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🔍  Consulta histórica inmediata con filtros por fecha, curso y estudiante</a:t>
            </a:r>
          </a:p>
          <a:p>
            <a:pPr algn="r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📊  Consultas y reportes generados desde el panel web</a:t>
            </a:r>
          </a:p>
          <a:p>
            <a:pPr algn="r" marL="0" indent="0" lvl="0">
              <a:lnSpc>
                <a:spcPts val="2266"/>
              </a:lnSpc>
            </a:pPr>
            <a:r>
              <a:rPr lang="en-US" sz="161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🌐  Base de datos centralizada y consultable desde el panel web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5425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8700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76350" y="295275"/>
            <a:ext cx="11401425" cy="102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7225">
                <a:solidFill>
                  <a:srgbClr val="21212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Relevancia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6412" y="7662862"/>
            <a:ext cx="45339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Sistema de Asistencia NFC/RFID | Relevancia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875" y="1685925"/>
            <a:ext cx="1524000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Este proyecto aborda una problemática real de un establecimiento educacional mediante una solución tecnológica integral, aplicando competencias clave de Ingeniería en Informática.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6875" y="2667000"/>
            <a:ext cx="3381375" cy="1524000"/>
            <a:chOff x="0" y="0"/>
            <a:chExt cx="4508500" cy="203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57375" y="28003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⚙️ Automatización de Procesos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7375" y="3162300"/>
            <a:ext cx="300037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Digitalización del registro de asistencia, eliminando tareas manuales repetitivas.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34000" y="2667000"/>
            <a:ext cx="3381375" cy="1524000"/>
            <a:chOff x="0" y="0"/>
            <a:chExt cx="45085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24500" y="28003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💻 Desarrollo de Software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24500" y="3162300"/>
            <a:ext cx="300037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Construcción de una API REST con Python/Flask y una plataforma web funcional.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01125" y="2667000"/>
            <a:ext cx="3381375" cy="1524000"/>
            <a:chOff x="0" y="0"/>
            <a:chExt cx="4508500" cy="203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91625" y="28003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🗄️ Bases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91625" y="3162300"/>
            <a:ext cx="300037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Diseño, implementación y gestión de una base de datos SQLite estructurada.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668250" y="2667000"/>
            <a:ext cx="3381375" cy="1524000"/>
            <a:chOff x="0" y="0"/>
            <a:chExt cx="4508500" cy="203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858750" y="2800350"/>
            <a:ext cx="3000375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🔗 Integración Hardware-Software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0" y="3162300"/>
            <a:ext cx="3000375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Conexión del lector PN532 y ESP32 con la API REST mediante Wi-Fi.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66875" y="5181600"/>
            <a:ext cx="3381375" cy="1524000"/>
            <a:chOff x="0" y="0"/>
            <a:chExt cx="4508500" cy="203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857375" y="53149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🔒 Seguridad de Información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57375" y="5676900"/>
            <a:ext cx="3000375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Acceso al panel con autenticación, clave API y resguardo de datos escolares.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334000" y="5181600"/>
            <a:ext cx="3381375" cy="1524000"/>
            <a:chOff x="0" y="0"/>
            <a:chExt cx="4508500" cy="203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524500" y="53149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📊 Generación de Reportes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524500" y="5676900"/>
            <a:ext cx="300037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Dashboard con estadísticas, filtros y exportación de información de asistencia.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001125" y="5181600"/>
            <a:ext cx="3381375" cy="1524000"/>
            <a:chOff x="0" y="0"/>
            <a:chExt cx="4508500" cy="2032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91625" y="53149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🌐 Tecnologías Profesionales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91625" y="5676900"/>
            <a:ext cx="300037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Uso de herramientas y lenguajes aplicados en entornos laborales reales.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668250" y="5181600"/>
            <a:ext cx="3381375" cy="1524000"/>
            <a:chOff x="0" y="0"/>
            <a:chExt cx="4508500" cy="203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085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4508500">
                  <a:moveTo>
                    <a:pt x="203200" y="0"/>
                  </a:moveTo>
                  <a:lnTo>
                    <a:pt x="4305300" y="0"/>
                  </a:lnTo>
                  <a:cubicBezTo>
                    <a:pt x="4417524" y="0"/>
                    <a:pt x="4508500" y="90976"/>
                    <a:pt x="4508500" y="203200"/>
                  </a:cubicBezTo>
                  <a:lnTo>
                    <a:pt x="4508500" y="1828800"/>
                  </a:lnTo>
                  <a:cubicBezTo>
                    <a:pt x="4508500" y="1941024"/>
                    <a:pt x="4417524" y="2032000"/>
                    <a:pt x="43053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0C0C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5085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858750" y="5314950"/>
            <a:ext cx="300037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🎯 Impacto Real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58750" y="5676900"/>
            <a:ext cx="300037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Solución aplicable a establecimientos educacionales para mejorar eficiencia y trazabilidad.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2147789" y="5514806"/>
            <a:ext cx="4498145" cy="2737666"/>
            <a:chOff x="0" y="0"/>
            <a:chExt cx="696880" cy="424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2"/>
              <a:stretch>
                <a:fillRect l="-612" t="0" r="-61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56542" y="6415295"/>
            <a:ext cx="4498145" cy="2737666"/>
            <a:chOff x="0" y="0"/>
            <a:chExt cx="696880" cy="424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3"/>
              <a:stretch>
                <a:fillRect l="-612" t="0" r="-61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69112" y="7549334"/>
            <a:ext cx="4498145" cy="2737666"/>
            <a:chOff x="0" y="0"/>
            <a:chExt cx="696880" cy="424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4"/>
              <a:stretch>
                <a:fillRect l="-612" t="0" r="-61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1082" y="327975"/>
            <a:ext cx="11396268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26"/>
              </a:lnSpc>
            </a:pPr>
            <a:r>
              <a:rPr lang="en-US" b="true" sz="7194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Solución Propuesta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-1638898" y="7533034"/>
            <a:ext cx="4530281" cy="51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Solución Propuesta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37806" y="2819173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Identificación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6559" y="3719662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Procesamiento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55312" y="5100528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Servicios y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2292" y="2172049"/>
            <a:ext cx="1150993" cy="13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98"/>
              </a:lnSpc>
            </a:pPr>
            <a:r>
              <a:rPr lang="en-US" b="true" sz="7784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81045" y="3072538"/>
            <a:ext cx="1150993" cy="13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98"/>
              </a:lnSpc>
            </a:pPr>
            <a:r>
              <a:rPr lang="en-US" b="true" sz="7784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89798" y="4453404"/>
            <a:ext cx="1150993" cy="13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98"/>
              </a:lnSpc>
            </a:pPr>
            <a:r>
              <a:rPr lang="en-US" b="true" sz="7784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47789" y="3624412"/>
            <a:ext cx="4498145" cy="11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Tarjeta NFC/RFID → Lector PN532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El estudiante acerca su tarjeta NFC/RFID al lector PN532, que captura el identificador único y lo transmite al microcontrolador.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56542" y="4524901"/>
            <a:ext cx="4498145" cy="11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ESP32 DevKit V1 → Wi-Fi → API REST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El ESP32 procesa la señal y envía el registro vía Wi-Fi a la API REST desarrollada en Python con Flask.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65295" y="5905767"/>
            <a:ext cx="4498145" cy="146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Python/Flask → SQLite → Dashboard Web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La API valida y almacena la asistencia en SQLite. El panel web permite consultar asistencias y exportar reportes.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BC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81082" y="327975"/>
            <a:ext cx="11396268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26"/>
              </a:lnSpc>
            </a:pPr>
            <a:r>
              <a:rPr lang="en-US" b="true" sz="7194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Objetivos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Objetivos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3419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Desarrollar un sistema automatizado para el registro, almacenamiento y consulta de asistencia escolar mediante tecnología NFC/RFID, API REST y plataforma web.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66244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1. Analizar el proceso actual de registro.</a:t>
            </a:r>
          </a:p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2. Diseñar arquitectura y base de datos.</a:t>
            </a:r>
          </a:p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3. Desarrollar la API REST con Python/Flask.</a:t>
            </a:r>
          </a:p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4. Implementar la plataforma web.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793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5. Integrar lector PN532 con ESP32.</a:t>
            </a:r>
          </a:p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6. Generar reportes y estadísticas.</a:t>
            </a:r>
          </a:p>
          <a:p>
            <a:pPr algn="just" marL="323631" indent="-161816" lvl="1">
              <a:lnSpc>
                <a:spcPts val="2098"/>
              </a:lnSpc>
              <a:buNone/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7. Validar mediante pruebas funcionales, de integración y seguridad.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13419" y="4206921"/>
            <a:ext cx="4678049" cy="1067043"/>
            <a:chOff x="0" y="0"/>
            <a:chExt cx="1232079" cy="281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66244" y="4206921"/>
            <a:ext cx="4678049" cy="1067043"/>
            <a:chOff x="0" y="0"/>
            <a:chExt cx="1232079" cy="281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15793" y="4206921"/>
            <a:ext cx="4678049" cy="1067043"/>
            <a:chOff x="0" y="0"/>
            <a:chExt cx="1232079" cy="281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61473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Objetivo General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4298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Objetivos Específicos 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3847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000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Objetivos Específicos II</a:t>
            </a:r>
          </a:p>
        </p:txBody>
      </p:sp>
      <p:sp>
        <p:nvSpPr>
          <p:cNvPr name="AutoShape 21" id="21"/>
          <p:cNvSpPr/>
          <p:nvPr/>
        </p:nvSpPr>
        <p:spPr>
          <a:xfrm>
            <a:off x="6565368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11849655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BC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81082" y="327975"/>
            <a:ext cx="11396268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26"/>
              </a:lnSpc>
            </a:pPr>
            <a:r>
              <a:rPr lang="en-US" b="true" sz="7194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Competencias Aplicadas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Página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3419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Diseño de software con enfoque en calidad, seguridad y sostenibilidad. Desarrollo de servicios web e integración de dispositivos. Arquitectura modular y escalable.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66244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Ingeniería de requisitos y modelado de datos. Desarrollo Backend (API REST, Python/Flask) y Frontend web responsivo. Integración hardware-software (ESP32, PN532, NFC/RFID).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793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Pruebas funcionales, integración y aseguramiento de calidad (QA). Gestión de proyectos con planificación por etapas. Documentación técnica y validación del sistema.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13419" y="4206921"/>
            <a:ext cx="4678049" cy="1067043"/>
            <a:chOff x="0" y="0"/>
            <a:chExt cx="1232079" cy="281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66244" y="4206921"/>
            <a:ext cx="4678049" cy="1067043"/>
            <a:chOff x="0" y="0"/>
            <a:chExt cx="1232079" cy="281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15793" y="4206921"/>
            <a:ext cx="4678049" cy="1067043"/>
            <a:chOff x="0" y="0"/>
            <a:chExt cx="1232079" cy="281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61473" y="4542322"/>
            <a:ext cx="3446572" cy="27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0"/>
              </a:lnSpc>
            </a:pPr>
            <a:r>
              <a:rPr lang="en-US" b="true" sz="1707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🛠️ Diseño y Desarrollo de Software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4298" y="4542322"/>
            <a:ext cx="3446572" cy="27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0"/>
              </a:lnSpc>
            </a:pPr>
            <a:r>
              <a:rPr lang="en-US" b="true" sz="1707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⚙️ Ingeniería e Integración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3847" y="4542322"/>
            <a:ext cx="3446572" cy="27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0"/>
              </a:lnSpc>
            </a:pPr>
            <a:r>
              <a:rPr lang="en-US" b="true" sz="1707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📊 Gestión y Calidad</a:t>
            </a:r>
          </a:p>
        </p:txBody>
      </p:sp>
      <p:sp>
        <p:nvSpPr>
          <p:cNvPr name="AutoShape 21" id="21"/>
          <p:cNvSpPr/>
          <p:nvPr/>
        </p:nvSpPr>
        <p:spPr>
          <a:xfrm>
            <a:off x="6565368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22" id="22"/>
          <p:cNvSpPr/>
          <p:nvPr/>
        </p:nvSpPr>
        <p:spPr>
          <a:xfrm>
            <a:off x="11849655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BC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5425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76350" y="295275"/>
            <a:ext cx="11401425" cy="10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09"/>
              </a:lnSpc>
            </a:pPr>
            <a:r>
              <a:rPr lang="en-US" sz="7190">
                <a:solidFill>
                  <a:srgbClr val="21212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Estándares Disciplinarios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1650" y="7667625"/>
            <a:ext cx="45339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0"/>
              </a:lnSpc>
            </a:pPr>
            <a:r>
              <a:rPr lang="en-US" sz="15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Sistema de Asistencia NFC/RFID | Página 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4500" y="2095500"/>
            <a:ext cx="6477000" cy="2667000"/>
            <a:chOff x="0" y="0"/>
            <a:chExt cx="8636000" cy="355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8636000">
                  <a:moveTo>
                    <a:pt x="355600" y="0"/>
                  </a:moveTo>
                  <a:lnTo>
                    <a:pt x="8280400" y="0"/>
                  </a:lnTo>
                  <a:cubicBezTo>
                    <a:pt x="8476793" y="0"/>
                    <a:pt x="8636000" y="159208"/>
                    <a:pt x="8636000" y="355600"/>
                  </a:cubicBezTo>
                  <a:lnTo>
                    <a:pt x="8636000" y="3200400"/>
                  </a:lnTo>
                  <a:cubicBezTo>
                    <a:pt x="8636000" y="3396792"/>
                    <a:pt x="8476793" y="3556000"/>
                    <a:pt x="828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36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43100" y="2390775"/>
            <a:ext cx="762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6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3100" y="2800350"/>
            <a:ext cx="6019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Pruebas y Certificación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3152775"/>
            <a:ext cx="6019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Diseño, aplicación y mejora del sistema mediante pruebas de validación funcional, de integración y usabilidad. Verificación del flujo completo NFC/RFID → API → Base de datos.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0" y="2095500"/>
            <a:ext cx="6477000" cy="2667000"/>
            <a:chOff x="0" y="0"/>
            <a:chExt cx="8636000" cy="355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8636000">
                  <a:moveTo>
                    <a:pt x="355600" y="0"/>
                  </a:moveTo>
                  <a:lnTo>
                    <a:pt x="8280400" y="0"/>
                  </a:lnTo>
                  <a:cubicBezTo>
                    <a:pt x="8476793" y="0"/>
                    <a:pt x="8636000" y="159208"/>
                    <a:pt x="8636000" y="355600"/>
                  </a:cubicBezTo>
                  <a:lnTo>
                    <a:pt x="8636000" y="3200400"/>
                  </a:lnTo>
                  <a:cubicBezTo>
                    <a:pt x="8636000" y="3396792"/>
                    <a:pt x="8476793" y="3556000"/>
                    <a:pt x="828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636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134600" y="2390775"/>
            <a:ext cx="762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6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4600" y="2800350"/>
            <a:ext cx="6019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Gestión de Proyectos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34600" y="3152775"/>
            <a:ext cx="6019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Planificación, seguimiento y control del desarrollo mediante metodología SCRUM adaptada. Sprints de dos semanas, entregas incrementales y gestión de riesgos.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14500" y="5334000"/>
            <a:ext cx="6477000" cy="2667000"/>
            <a:chOff x="0" y="0"/>
            <a:chExt cx="8636000" cy="355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3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8636000">
                  <a:moveTo>
                    <a:pt x="355600" y="0"/>
                  </a:moveTo>
                  <a:lnTo>
                    <a:pt x="8280400" y="0"/>
                  </a:lnTo>
                  <a:cubicBezTo>
                    <a:pt x="8476793" y="0"/>
                    <a:pt x="8636000" y="159208"/>
                    <a:pt x="8636000" y="355600"/>
                  </a:cubicBezTo>
                  <a:lnTo>
                    <a:pt x="8636000" y="3200400"/>
                  </a:lnTo>
                  <a:cubicBezTo>
                    <a:pt x="8636000" y="3396792"/>
                    <a:pt x="8476793" y="3556000"/>
                    <a:pt x="828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636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43100" y="5629275"/>
            <a:ext cx="762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6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3100" y="6038850"/>
            <a:ext cx="6019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Modelo de Datos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43100" y="6391275"/>
            <a:ext cx="6019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Diseño e implementación de una base de datos SQLite estructurada y escalable. Modelado relacional de alumnos, tarjetas, tótems y asistencias.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06000" y="5334000"/>
            <a:ext cx="6477000" cy="2667000"/>
            <a:chOff x="0" y="0"/>
            <a:chExt cx="8636000" cy="355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3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8636000">
                  <a:moveTo>
                    <a:pt x="355600" y="0"/>
                  </a:moveTo>
                  <a:lnTo>
                    <a:pt x="8280400" y="0"/>
                  </a:lnTo>
                  <a:cubicBezTo>
                    <a:pt x="8476793" y="0"/>
                    <a:pt x="8636000" y="159208"/>
                    <a:pt x="8636000" y="355600"/>
                  </a:cubicBezTo>
                  <a:lnTo>
                    <a:pt x="8636000" y="3200400"/>
                  </a:lnTo>
                  <a:cubicBezTo>
                    <a:pt x="8636000" y="3396792"/>
                    <a:pt x="8476793" y="3556000"/>
                    <a:pt x="8280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636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134600" y="5629275"/>
            <a:ext cx="76200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6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34600" y="6038850"/>
            <a:ext cx="6019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Desarrollo de Software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34600" y="6391275"/>
            <a:ext cx="6019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Desarrollo y validación progresiva: API REST con Python/Flask, panel web, firmware ESP32 e integración NFC/RFID.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6350" y="137160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Conexión del proyecto con los estándares evaluados en el Capstone APT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BC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81082" y="308925"/>
            <a:ext cx="11396268" cy="862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548"/>
              </a:lnSpc>
            </a:pPr>
            <a:r>
              <a:rPr lang="en-US" b="true" sz="6177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Funcionalidades del Sistema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APT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3419" y="5772055"/>
            <a:ext cx="4678049" cy="7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Registro automático de asistencia mediante tarjeta NFC/RFID. Identificación instantánea del estudiante y prevención de registros duplicados en tiempo real.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66244" y="5772055"/>
            <a:ext cx="4678049" cy="7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Validación de alumnos, tarjetas y tótems; inicio de sesión del panel y autorización de la API.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793" y="5772055"/>
            <a:ext cx="4678049" cy="7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Panel de consulta de asistencia y generación de reportes exportables por período y estudiante.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13419" y="4206921"/>
            <a:ext cx="4678049" cy="1067043"/>
            <a:chOff x="0" y="0"/>
            <a:chExt cx="1232079" cy="281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66244" y="4206921"/>
            <a:ext cx="4678049" cy="1067043"/>
            <a:chOff x="0" y="0"/>
            <a:chExt cx="1232079" cy="281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15793" y="4206921"/>
            <a:ext cx="4678049" cy="1067043"/>
            <a:chOff x="0" y="0"/>
            <a:chExt cx="1232079" cy="281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61473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📡 Registro NFC/RFID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4298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👤 Gestión y Validación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3847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📊 Dashboard y Reportes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6565368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22" id="22"/>
          <p:cNvSpPr/>
          <p:nvPr/>
        </p:nvSpPr>
        <p:spPr>
          <a:xfrm>
            <a:off x="11849655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2147789" y="5514806"/>
            <a:ext cx="4498145" cy="2737666"/>
            <a:chOff x="0" y="0"/>
            <a:chExt cx="696880" cy="424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2"/>
              <a:stretch>
                <a:fillRect l="-612" t="0" r="-61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56542" y="6415295"/>
            <a:ext cx="4498145" cy="2737666"/>
            <a:chOff x="0" y="0"/>
            <a:chExt cx="696880" cy="424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3"/>
              <a:stretch>
                <a:fillRect l="-612" t="0" r="-61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69112" y="7549334"/>
            <a:ext cx="4498145" cy="2737666"/>
            <a:chOff x="0" y="0"/>
            <a:chExt cx="696880" cy="424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4"/>
              <a:stretch>
                <a:fillRect l="-612" t="0" r="-61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1082" y="318450"/>
            <a:ext cx="11396268" cy="91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987"/>
              </a:lnSpc>
            </a:pPr>
            <a:r>
              <a:rPr lang="en-US" b="true" sz="6591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Arquitectura de la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-3924935" y="9820910"/>
            <a:ext cx="45339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70"/>
              </a:lnSpc>
              <a:spcBef>
                <a:spcPct val="0"/>
              </a:spcBef>
            </a:pPr>
            <a:r>
              <a:rPr lang="en-US" sz="1550" strike="noStrike" u="none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Arquitectura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37806" y="2828698"/>
            <a:ext cx="3446572" cy="3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3"/>
              </a:lnSpc>
            </a:pPr>
            <a:r>
              <a:rPr lang="en-US" b="true" sz="215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Capa de Identificación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6559" y="3729187"/>
            <a:ext cx="3446572" cy="3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3"/>
              </a:lnSpc>
            </a:pPr>
            <a:r>
              <a:rPr lang="en-US" b="true" sz="215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Capa de Procesamiento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55312" y="5110053"/>
            <a:ext cx="3446572" cy="36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3"/>
              </a:lnSpc>
            </a:pPr>
            <a:r>
              <a:rPr lang="en-US" b="true" sz="215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Capas de Servicios y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2292" y="2191099"/>
            <a:ext cx="1150993" cy="11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813"/>
              </a:lnSpc>
            </a:pPr>
            <a:r>
              <a:rPr lang="en-US" b="true" sz="700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81045" y="3091588"/>
            <a:ext cx="1150993" cy="11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813"/>
              </a:lnSpc>
            </a:pPr>
            <a:r>
              <a:rPr lang="en-US" b="true" sz="700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89798" y="4472454"/>
            <a:ext cx="1150993" cy="11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813"/>
              </a:lnSpc>
            </a:pPr>
            <a:r>
              <a:rPr lang="en-US" b="true" sz="7009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47789" y="3624412"/>
            <a:ext cx="4498145" cy="11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Tarjetas NFC/RFID asignadas a cada estudiante. Lector PN532 captura el UID y lo transmite al microcontrolador. Primer punto de contacto del flujo de asistencia.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56542" y="4524901"/>
            <a:ext cx="4498145" cy="11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ESP32 DevKit V1 recibe el UID del lector PN532. Conexión Wi-Fi para envío de datos a la API REST. Transmisión de UID y evento_id; manejo básico de comunicación.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65295" y="5905767"/>
            <a:ext cx="4498145" cy="11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API REST con Python/Flask procesa y valida registros. Base de datos SQLite almacena estudiantes y asistencias. Plataforma web responsiva con dashboard y reportes.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 flipV="true">
            <a:off x="8808957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281082" y="299400"/>
            <a:ext cx="11396268" cy="61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90"/>
              </a:lnSpc>
            </a:pPr>
            <a:r>
              <a:rPr lang="en-US" b="true" sz="4519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Evidencias de Avance y Resultado Final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Página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555" y="3010913"/>
            <a:ext cx="6517202" cy="205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Evidencias de Avance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Documento de requerimientos funcionales y no funcionales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Diseño de arquitectura del sistema y modelo de base de datos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Prototipo funcional con datos sintéticos y simulación del flujo NFC/RFID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Proceso completo desde el análisis inicial hasta la validación, demostrando evolución progresiva del sistema.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42098" y="6757817"/>
            <a:ext cx="6517202" cy="175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Evidencias Finales</a:t>
            </a:r>
          </a:p>
          <a:p>
            <a:pPr algn="r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MVP integrado con lector NFC/RFID operativo</a:t>
            </a:r>
          </a:p>
          <a:p>
            <a:pPr algn="r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Informe de pruebas funcionales, de integración y validación</a:t>
            </a:r>
          </a:p>
          <a:p>
            <a:pPr algn="r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Documentación técnica completa y repositorio del proyecto</a:t>
            </a:r>
          </a:p>
          <a:p>
            <a:pPr algn="r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Meta final: prototipo integrado, validado y documentado para una eventual implementación escolar.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5425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76350" y="295275"/>
            <a:ext cx="11401425" cy="102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7225">
                <a:solidFill>
                  <a:srgbClr val="21212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Metodología de Trabajo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350" y="137160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SCRUM adaptado al contexto académico con sprints de dos semanas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71650" y="7667625"/>
            <a:ext cx="45339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0"/>
              </a:lnSpc>
            </a:pPr>
            <a:r>
              <a:rPr lang="en-US" sz="15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Sistema de Asistencia NFC/RFID | Página 11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762250" y="2000250"/>
            <a:ext cx="2095500" cy="666750"/>
            <a:chOff x="0" y="0"/>
            <a:chExt cx="2794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09875" y="2133600"/>
            <a:ext cx="2000250" cy="36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b="true" sz="2186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📋 PLANIFICAR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857750" y="2333625"/>
            <a:ext cx="571500" cy="0"/>
          </a:xfrm>
          <a:prstGeom prst="line">
            <a:avLst/>
          </a:prstGeom>
          <a:ln cap="flat" w="19050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5429250" y="2000250"/>
            <a:ext cx="2095500" cy="666750"/>
            <a:chOff x="0" y="0"/>
            <a:chExt cx="2794000" cy="88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476875" y="1962150"/>
            <a:ext cx="2000250" cy="70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2033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💻 DESARROLLAR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524750" y="2333625"/>
            <a:ext cx="571500" cy="0"/>
          </a:xfrm>
          <a:prstGeom prst="line">
            <a:avLst/>
          </a:prstGeom>
          <a:ln cap="flat" w="19050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8096250" y="2000250"/>
            <a:ext cx="2095500" cy="666750"/>
            <a:chOff x="0" y="0"/>
            <a:chExt cx="2794000" cy="88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143875" y="2095500"/>
            <a:ext cx="2000250" cy="42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2475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🔗 INTEGRAR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191750" y="2333625"/>
            <a:ext cx="571500" cy="0"/>
          </a:xfrm>
          <a:prstGeom prst="line">
            <a:avLst/>
          </a:prstGeom>
          <a:ln cap="flat" w="19050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0763250" y="2000250"/>
            <a:ext cx="2095500" cy="666750"/>
            <a:chOff x="0" y="0"/>
            <a:chExt cx="2794000" cy="889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810875" y="2047875"/>
            <a:ext cx="2000250" cy="50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4"/>
              </a:lnSpc>
            </a:pPr>
            <a:r>
              <a:rPr lang="en-US" b="true" sz="2931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🧪 PROBAR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2858750" y="2333625"/>
            <a:ext cx="571500" cy="0"/>
          </a:xfrm>
          <a:prstGeom prst="line">
            <a:avLst/>
          </a:prstGeom>
          <a:ln cap="flat" w="19050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3430250" y="2000250"/>
            <a:ext cx="2095500" cy="666750"/>
            <a:chOff x="0" y="0"/>
            <a:chExt cx="2794000" cy="889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477875" y="2085975"/>
            <a:ext cx="2000250" cy="43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b="true" sz="2616">
                <a:solidFill>
                  <a:srgbClr val="FFFFF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🔄 MEJORAR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19250" y="3238500"/>
            <a:ext cx="4762500" cy="3238500"/>
            <a:chOff x="0" y="0"/>
            <a:chExt cx="6350000" cy="4318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350000">
                  <a:moveTo>
                    <a:pt x="431800" y="0"/>
                  </a:moveTo>
                  <a:lnTo>
                    <a:pt x="5918200" y="0"/>
                  </a:lnTo>
                  <a:cubicBezTo>
                    <a:pt x="6156677" y="0"/>
                    <a:pt x="6350000" y="193323"/>
                    <a:pt x="6350000" y="431800"/>
                  </a:cubicBezTo>
                  <a:lnTo>
                    <a:pt x="6350000" y="3886200"/>
                  </a:lnTo>
                  <a:cubicBezTo>
                    <a:pt x="6350000" y="4124677"/>
                    <a:pt x="6156677" y="4318000"/>
                    <a:pt x="5918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350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19250" y="3238500"/>
            <a:ext cx="4762500" cy="76200"/>
            <a:chOff x="0" y="0"/>
            <a:chExt cx="6350000" cy="10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350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847850" y="3467100"/>
            <a:ext cx="4305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C5F8A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FASE 1 · Semanas 1–6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47850" y="3790950"/>
            <a:ext cx="43053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Definición y análisis de requerimientos.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Diseño de arquitectura y base de datos.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Diseño UI/UX y prototipado.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Inicio del desarrollo Backend.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762750" y="3238500"/>
            <a:ext cx="4762500" cy="3238500"/>
            <a:chOff x="0" y="0"/>
            <a:chExt cx="6350000" cy="4318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350000">
                  <a:moveTo>
                    <a:pt x="431800" y="0"/>
                  </a:moveTo>
                  <a:lnTo>
                    <a:pt x="5918200" y="0"/>
                  </a:lnTo>
                  <a:cubicBezTo>
                    <a:pt x="6156677" y="0"/>
                    <a:pt x="6350000" y="193323"/>
                    <a:pt x="6350000" y="431800"/>
                  </a:cubicBezTo>
                  <a:lnTo>
                    <a:pt x="6350000" y="3886200"/>
                  </a:lnTo>
                  <a:cubicBezTo>
                    <a:pt x="6350000" y="4124677"/>
                    <a:pt x="6156677" y="4318000"/>
                    <a:pt x="5918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350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62750" y="3238500"/>
            <a:ext cx="4762500" cy="76200"/>
            <a:chOff x="0" y="0"/>
            <a:chExt cx="6350000" cy="10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350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991350" y="3467100"/>
            <a:ext cx="4305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FASE 2 · Semanas 7–12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91350" y="3790950"/>
            <a:ext cx="43053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Desarrollo Backend y API REST.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Desarrollo Frontend web.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Integración NFC/RFID con ESP32.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Dashboard y generación de reportes.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906250" y="3238500"/>
            <a:ext cx="4762500" cy="3238500"/>
            <a:chOff x="0" y="0"/>
            <a:chExt cx="6350000" cy="4318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5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6350000">
                  <a:moveTo>
                    <a:pt x="431800" y="0"/>
                  </a:moveTo>
                  <a:lnTo>
                    <a:pt x="5918200" y="0"/>
                  </a:lnTo>
                  <a:cubicBezTo>
                    <a:pt x="6156677" y="0"/>
                    <a:pt x="6350000" y="193323"/>
                    <a:pt x="6350000" y="431800"/>
                  </a:cubicBezTo>
                  <a:lnTo>
                    <a:pt x="6350000" y="3886200"/>
                  </a:lnTo>
                  <a:cubicBezTo>
                    <a:pt x="6350000" y="4124677"/>
                    <a:pt x="6156677" y="4318000"/>
                    <a:pt x="5918200" y="4318000"/>
                  </a:cubicBezTo>
                  <a:lnTo>
                    <a:pt x="431800" y="4318000"/>
                  </a:lnTo>
                  <a:cubicBezTo>
                    <a:pt x="193323" y="4318000"/>
                    <a:pt x="0" y="4124677"/>
                    <a:pt x="0" y="3886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350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06250" y="3238500"/>
            <a:ext cx="4762500" cy="76200"/>
            <a:chOff x="0" y="0"/>
            <a:chExt cx="6350000" cy="101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0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6BB3E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350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134850" y="3467100"/>
            <a:ext cx="43053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6BB3E0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FASE 3 · Semanas 13–18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34850" y="3790950"/>
            <a:ext cx="43053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Pruebas funcionales y de integración.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Validación y correcciones.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Documentación técnica.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Despliegue y presentación final.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429000" y="6829425"/>
            <a:ext cx="11430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El enfoque iterativo permite entregar avances progresivos, detectar errores tempranamente y realizar mejoras continuas en cada sprint.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5425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76350" y="295275"/>
            <a:ext cx="11401425" cy="102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7225">
                <a:solidFill>
                  <a:srgbClr val="21212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Factibilidad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350" y="137160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Análisis de viabilidad técnica, temporal y económica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71650" y="7667625"/>
            <a:ext cx="45339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0"/>
              </a:lnSpc>
            </a:pPr>
            <a:r>
              <a:rPr lang="en-US" sz="15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Sistema de Asistencia NFC/RFID | Página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14500" y="2000250"/>
            <a:ext cx="3524250" cy="4000500"/>
            <a:chOff x="0" y="0"/>
            <a:chExt cx="4699000" cy="533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99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699000">
                  <a:moveTo>
                    <a:pt x="469900" y="0"/>
                  </a:moveTo>
                  <a:lnTo>
                    <a:pt x="4229100" y="0"/>
                  </a:lnTo>
                  <a:cubicBezTo>
                    <a:pt x="4488619" y="0"/>
                    <a:pt x="4699000" y="210381"/>
                    <a:pt x="4699000" y="469900"/>
                  </a:cubicBezTo>
                  <a:lnTo>
                    <a:pt x="4699000" y="4864100"/>
                  </a:lnTo>
                  <a:cubicBezTo>
                    <a:pt x="4699000" y="5123619"/>
                    <a:pt x="4488619" y="5334000"/>
                    <a:pt x="4229100" y="5334000"/>
                  </a:cubicBezTo>
                  <a:lnTo>
                    <a:pt x="469900" y="5334000"/>
                  </a:lnTo>
                  <a:cubicBezTo>
                    <a:pt x="210381" y="5334000"/>
                    <a:pt x="0" y="5123619"/>
                    <a:pt x="0" y="4864100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99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000250"/>
            <a:ext cx="3524250" cy="76200"/>
            <a:chOff x="0" y="0"/>
            <a:chExt cx="46990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99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99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05000" y="2228850"/>
            <a:ext cx="3143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>
                <a:solidFill>
                  <a:srgbClr val="2C5F8A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💻 Factibilidad Técnica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5000" y="2628900"/>
            <a:ext cx="3143250" cy="20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Python, Flask y SQLite: tecnologías maduras y documentadas.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ESP32 DevKit V1 y lector PN532: hardware accesible y compatible.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Tecnología NFC/RFID ampliamente utilizada en sistemas de identificación.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Herramientas de desarrollo gratuitas y multiplataforma.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524500" y="2000250"/>
            <a:ext cx="3524250" cy="4000500"/>
            <a:chOff x="0" y="0"/>
            <a:chExt cx="4699000" cy="533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99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699000">
                  <a:moveTo>
                    <a:pt x="469900" y="0"/>
                  </a:moveTo>
                  <a:lnTo>
                    <a:pt x="4229100" y="0"/>
                  </a:lnTo>
                  <a:cubicBezTo>
                    <a:pt x="4488619" y="0"/>
                    <a:pt x="4699000" y="210381"/>
                    <a:pt x="4699000" y="469900"/>
                  </a:cubicBezTo>
                  <a:lnTo>
                    <a:pt x="4699000" y="4864100"/>
                  </a:lnTo>
                  <a:cubicBezTo>
                    <a:pt x="4699000" y="5123619"/>
                    <a:pt x="4488619" y="5334000"/>
                    <a:pt x="4229100" y="5334000"/>
                  </a:cubicBezTo>
                  <a:lnTo>
                    <a:pt x="469900" y="5334000"/>
                  </a:lnTo>
                  <a:cubicBezTo>
                    <a:pt x="210381" y="5334000"/>
                    <a:pt x="0" y="5123619"/>
                    <a:pt x="0" y="4864100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99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24500" y="2000250"/>
            <a:ext cx="3524250" cy="76200"/>
            <a:chOff x="0" y="0"/>
            <a:chExt cx="4699000" cy="10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99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99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715000" y="2228850"/>
            <a:ext cx="3143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⏱️ Factibilidad Temporal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15000" y="2628900"/>
            <a:ext cx="3143250" cy="178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18 semanas académicas de desarrollo.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Sprints de 2 semanas con entregas incrementales.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Desarrollo paralelo Backend y Frontend.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Integración progresiva de componentes.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34500" y="2000250"/>
            <a:ext cx="3524250" cy="4000500"/>
            <a:chOff x="0" y="0"/>
            <a:chExt cx="4699000" cy="533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99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699000">
                  <a:moveTo>
                    <a:pt x="469900" y="0"/>
                  </a:moveTo>
                  <a:lnTo>
                    <a:pt x="4229100" y="0"/>
                  </a:lnTo>
                  <a:cubicBezTo>
                    <a:pt x="4488619" y="0"/>
                    <a:pt x="4699000" y="210381"/>
                    <a:pt x="4699000" y="469900"/>
                  </a:cubicBezTo>
                  <a:lnTo>
                    <a:pt x="4699000" y="4864100"/>
                  </a:lnTo>
                  <a:cubicBezTo>
                    <a:pt x="4699000" y="5123619"/>
                    <a:pt x="4488619" y="5334000"/>
                    <a:pt x="4229100" y="5334000"/>
                  </a:cubicBezTo>
                  <a:lnTo>
                    <a:pt x="469900" y="5334000"/>
                  </a:lnTo>
                  <a:cubicBezTo>
                    <a:pt x="210381" y="5334000"/>
                    <a:pt x="0" y="5123619"/>
                    <a:pt x="0" y="4864100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99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4500" y="2000250"/>
            <a:ext cx="3524250" cy="76200"/>
            <a:chOff x="0" y="0"/>
            <a:chExt cx="4699000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99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6BB3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99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25000" y="2228850"/>
            <a:ext cx="3143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>
                <a:solidFill>
                  <a:srgbClr val="6BB3E0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💰 Factibilidad Económica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5000" y="2628900"/>
            <a:ext cx="3143250" cy="20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Herramientas de código abierto (Python, Flask, SQLite).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Hardware de bajo costo (ESP32, PN532, tarjetas NFC).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Infraestructura de desarrollo disponible.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Sin costos de licenciamiento de software.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144500" y="2000250"/>
            <a:ext cx="3524250" cy="4000500"/>
            <a:chOff x="0" y="0"/>
            <a:chExt cx="4699000" cy="533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99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699000">
                  <a:moveTo>
                    <a:pt x="469900" y="0"/>
                  </a:moveTo>
                  <a:lnTo>
                    <a:pt x="4229100" y="0"/>
                  </a:lnTo>
                  <a:cubicBezTo>
                    <a:pt x="4488619" y="0"/>
                    <a:pt x="4699000" y="210381"/>
                    <a:pt x="4699000" y="469900"/>
                  </a:cubicBezTo>
                  <a:lnTo>
                    <a:pt x="4699000" y="4864100"/>
                  </a:lnTo>
                  <a:cubicBezTo>
                    <a:pt x="4699000" y="5123619"/>
                    <a:pt x="4488619" y="5334000"/>
                    <a:pt x="4229100" y="5334000"/>
                  </a:cubicBezTo>
                  <a:lnTo>
                    <a:pt x="469900" y="5334000"/>
                  </a:lnTo>
                  <a:cubicBezTo>
                    <a:pt x="210381" y="5334000"/>
                    <a:pt x="0" y="5123619"/>
                    <a:pt x="0" y="4864100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699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144500" y="2000250"/>
            <a:ext cx="3524250" cy="76200"/>
            <a:chOff x="0" y="0"/>
            <a:chExt cx="4699000" cy="10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99000" cy="101600"/>
            </a:xfrm>
            <a:custGeom>
              <a:avLst/>
              <a:gdLst/>
              <a:ahLst/>
              <a:cxnLst/>
              <a:rect r="r" b="b" t="t" l="l"/>
              <a:pathLst>
                <a:path h="1016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07C4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699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335000" y="2228850"/>
            <a:ext cx="3143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1700">
                <a:solidFill>
                  <a:srgbClr val="E07C4A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⚠️ Riesgos y Mitigación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35000" y="2628900"/>
            <a:ext cx="3143250" cy="20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Conectividad Wi-Fi inestable → pruebas con datos locales.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Disponibilidad de hardware → simulación con datos sintéticos.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Protección de datos → uso de datos ficticios en desarrollo.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Cambios de alcance → priorización del MVP y documentación.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29000" y="6353175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El proyecto es viable técnica, temporal y económicamente. Los riesgos identificados cuentan con estrategias de mitigación definidas.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2147789" y="5514806"/>
            <a:ext cx="4498145" cy="2737666"/>
            <a:chOff x="0" y="0"/>
            <a:chExt cx="696880" cy="424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2"/>
              <a:stretch>
                <a:fillRect l="-612" t="0" r="-61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56542" y="6415295"/>
            <a:ext cx="4498145" cy="2737666"/>
            <a:chOff x="0" y="0"/>
            <a:chExt cx="696880" cy="424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3"/>
              <a:stretch>
                <a:fillRect l="-612" t="0" r="-61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69112" y="7549334"/>
            <a:ext cx="4498145" cy="2737666"/>
            <a:chOff x="0" y="0"/>
            <a:chExt cx="696880" cy="424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6880" cy="424136"/>
            </a:xfrm>
            <a:custGeom>
              <a:avLst/>
              <a:gdLst/>
              <a:ahLst/>
              <a:cxnLst/>
              <a:rect r="r" b="b" t="t" l="l"/>
              <a:pathLst>
                <a:path h="424136" w="696880">
                  <a:moveTo>
                    <a:pt x="0" y="0"/>
                  </a:moveTo>
                  <a:lnTo>
                    <a:pt x="696880" y="0"/>
                  </a:lnTo>
                  <a:lnTo>
                    <a:pt x="696880" y="424136"/>
                  </a:lnTo>
                  <a:lnTo>
                    <a:pt x="0" y="424136"/>
                  </a:lnTo>
                  <a:close/>
                </a:path>
              </a:pathLst>
            </a:custGeom>
            <a:blipFill>
              <a:blip r:embed="rId4"/>
              <a:stretch>
                <a:fillRect l="-612" t="0" r="-61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1082" y="327975"/>
            <a:ext cx="11396268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26"/>
              </a:lnSpc>
            </a:pPr>
            <a:r>
              <a:rPr lang="en-US" b="true" sz="7194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Plan de Trabajo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NFC/RFID | Plan de Trabajo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37806" y="2819173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Etapas 1–3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6559" y="3719662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Etapas 4–6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55312" y="5100528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Etapas 7–9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2292" y="2172049"/>
            <a:ext cx="1150993" cy="13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98"/>
              </a:lnSpc>
            </a:pPr>
            <a:r>
              <a:rPr lang="en-US" b="true" sz="7784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81045" y="3072538"/>
            <a:ext cx="1150993" cy="13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98"/>
              </a:lnSpc>
            </a:pPr>
            <a:r>
              <a:rPr lang="en-US" b="true" sz="7784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89798" y="4453404"/>
            <a:ext cx="1150993" cy="130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98"/>
              </a:lnSpc>
            </a:pPr>
            <a:r>
              <a:rPr lang="en-US" b="true" sz="7784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47789" y="3624412"/>
            <a:ext cx="4498145" cy="87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① Levantamiento y análisis de requerimientos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② Diseño arquitectura y base de datos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③ Diseño UI/UX y prototipado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56542" y="4524901"/>
            <a:ext cx="4498145" cy="87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④ Desarrollo Backend y API REST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⑤ Desarrollo de la interfaz web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⑥ Integración RFID/NFC con plataforma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65295" y="5905767"/>
            <a:ext cx="4498145" cy="116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⑦ Desarrollo dashboard y reportes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⑧ Pruebas, validación y correcciones</a:t>
            </a:r>
          </a:p>
          <a:p>
            <a:pPr algn="just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⑨ Documentación, despliegue y presentación final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3372399" y="8065673"/>
            <a:ext cx="12579552" cy="1630049"/>
            <a:chOff x="0" y="0"/>
            <a:chExt cx="3313133" cy="429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13133" cy="429313"/>
            </a:xfrm>
            <a:custGeom>
              <a:avLst/>
              <a:gdLst/>
              <a:ahLst/>
              <a:cxnLst/>
              <a:rect r="r" b="b" t="t" l="l"/>
              <a:pathLst>
                <a:path h="429313" w="3313133">
                  <a:moveTo>
                    <a:pt x="24002" y="0"/>
                  </a:moveTo>
                  <a:lnTo>
                    <a:pt x="3289131" y="0"/>
                  </a:lnTo>
                  <a:cubicBezTo>
                    <a:pt x="3302387" y="0"/>
                    <a:pt x="3313133" y="10746"/>
                    <a:pt x="3313133" y="24002"/>
                  </a:cubicBezTo>
                  <a:lnTo>
                    <a:pt x="3313133" y="405311"/>
                  </a:lnTo>
                  <a:cubicBezTo>
                    <a:pt x="3313133" y="418567"/>
                    <a:pt x="3302387" y="429313"/>
                    <a:pt x="3289131" y="429313"/>
                  </a:cubicBezTo>
                  <a:lnTo>
                    <a:pt x="24002" y="429313"/>
                  </a:lnTo>
                  <a:cubicBezTo>
                    <a:pt x="10746" y="429313"/>
                    <a:pt x="0" y="418567"/>
                    <a:pt x="0" y="405311"/>
                  </a:cubicBezTo>
                  <a:lnTo>
                    <a:pt x="0" y="24002"/>
                  </a:lnTo>
                  <a:cubicBezTo>
                    <a:pt x="0" y="10746"/>
                    <a:pt x="10746" y="0"/>
                    <a:pt x="24002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313133" cy="476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81082" y="289875"/>
            <a:ext cx="14630400" cy="59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0"/>
              </a:lnSpc>
            </a:pPr>
            <a:r>
              <a:rPr lang="en-US" b="true" sz="4293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Carta Gantt — 18 semanas (propuesta)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-1780642" y="7665253"/>
            <a:ext cx="4530281" cy="2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0"/>
              </a:lnSpc>
            </a:pPr>
            <a:r>
              <a:rPr lang="en-US" sz="1457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Página 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4640" y="8439912"/>
            <a:ext cx="132588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1"/>
              </a:lnSpc>
            </a:pPr>
            <a:r>
              <a:rPr lang="en-US" sz="15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Distribución estimada de tareas. Validar responsables, semanas y fechas con el docente antes de entregar.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892807"/>
            <a:ext cx="3950208" cy="292608"/>
          </a:xfrm>
          <a:prstGeom prst="rect">
            <a:avLst/>
          </a:prstGeom>
          <a:solidFill>
            <a:srgbClr val="2E2E31"/>
          </a:solidFill>
          <a:ln w="6350">
            <a:solidFill>
              <a:srgbClr val="2E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911095"/>
            <a:ext cx="395020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Fase 1 · Definición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8008" y="1892807"/>
            <a:ext cx="3950208" cy="292608"/>
          </a:xfrm>
          <a:prstGeom prst="rect">
            <a:avLst/>
          </a:prstGeom>
          <a:solidFill>
            <a:srgbClr val="555558"/>
          </a:solidFill>
          <a:ln w="6350">
            <a:solidFill>
              <a:srgbClr val="555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911095"/>
            <a:ext cx="395020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Fase 2 · Desarrollo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58216" y="1892807"/>
            <a:ext cx="3950208" cy="292608"/>
          </a:xfrm>
          <a:prstGeom prst="rect">
            <a:avLst/>
          </a:prstGeom>
          <a:solidFill>
            <a:srgbClr val="7B7B7E"/>
          </a:solidFill>
          <a:ln w="6350">
            <a:solidFill>
              <a:srgbClr val="7B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58216" y="1911095"/>
            <a:ext cx="395020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Fase 3 · Validación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2377440"/>
            <a:ext cx="4114800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2423160"/>
            <a:ext cx="4050792" cy="210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100" b="1">
                <a:solidFill>
                  <a:srgbClr val="141416"/>
                </a:solidFill>
                <a:latin typeface="Aptos"/>
              </a:rPr>
              <a:t>Actividad / semanas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16168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16168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4536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4536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32904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1272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8008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8008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6376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24744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24744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83112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83112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41480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41480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499848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99848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158216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158216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816584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816584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474952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474952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33320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133320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791688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791688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0056" y="2377440"/>
            <a:ext cx="658368" cy="292608"/>
          </a:xfrm>
          <a:prstGeom prst="rect">
            <a:avLst/>
          </a:prstGeom>
          <a:solidFill>
            <a:srgbClr val="E8E8E9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0056" y="2404872"/>
            <a:ext cx="65836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141416"/>
                </a:solidFill>
                <a:latin typeface="Aptos"/>
              </a:rPr>
              <a:t>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2788920"/>
            <a:ext cx="4114800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07008" y="2871216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Requisitos y alcance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800" y="2788920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16168" y="2788920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74536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32904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91272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49640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08008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66376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24744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183112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841480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499848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158216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816584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474952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133320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791688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6450056" y="2788920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43000" y="3218688"/>
            <a:ext cx="4114800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07008" y="3300984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Diseño y base de datos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57800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916168" y="321868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74536" y="321868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32904" y="321868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91272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208008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66376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24744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83112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841480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499848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3158216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3816584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474952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133320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5791688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450056" y="3218688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43000" y="3648456"/>
            <a:ext cx="4114800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07008" y="3730752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API y lógica de registro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57800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16168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574536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232904" y="364845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91272" y="364845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549640" y="364845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08008" y="364845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66376" y="364845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524744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83112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841480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99848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158216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3816584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4474952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5133320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5791688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6450056" y="3648456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43000" y="4078224"/>
            <a:ext cx="4114800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207008" y="4160520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Panel y reportes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257800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916168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574536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32904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891272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49640" y="4078224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08008" y="4078224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866376" y="4078224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524744" y="4078224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183112" y="4078224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841480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499848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3158216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3816584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4474952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5133320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5791688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6450056" y="4078224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43000" y="4507992"/>
            <a:ext cx="4114800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07008" y="4590288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Tótem ESP32/PN532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257800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916168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574536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232904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891272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549640" y="4507992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208008" y="4507992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866376" y="4507992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524744" y="4507992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183112" y="4507992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841480" y="4507992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2499848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3158216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3816584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4474952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5133320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5791688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6450056" y="4507992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43000" y="4937760"/>
            <a:ext cx="4114800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07008" y="5020056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Integración de componentes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257800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916168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574536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232904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891272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549640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208008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866376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524744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183112" y="4937760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841480" y="4937760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2499848" y="4937760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3158216" y="4937760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3816584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4474952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5133320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5791688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6450056" y="4937760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143000" y="5367528"/>
            <a:ext cx="4114800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207008" y="5449824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Pruebas y ajustes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257800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916168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574536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232904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891272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49640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208008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866376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524744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1183112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841480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2499848" y="536752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3158216" y="536752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3816584" y="536752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4474952" y="536752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5133320" y="5367528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5791688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6450056" y="5367528"/>
            <a:ext cx="658368" cy="429768"/>
          </a:xfrm>
          <a:prstGeom prst="rect">
            <a:avLst/>
          </a:prstGeom>
          <a:solidFill>
            <a:srgbClr val="F7F7F7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143000" y="5797296"/>
            <a:ext cx="4114800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207008" y="5879592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00" b="0">
                <a:solidFill>
                  <a:srgbClr val="141416"/>
                </a:solidFill>
                <a:latin typeface="Aptos"/>
              </a:rPr>
              <a:t>Informe y presentación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257800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916168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574536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232904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891272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549640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208008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866376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0524744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1183112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1841480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2499848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3158216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3816584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4474952" y="5797296"/>
            <a:ext cx="658368" cy="429768"/>
          </a:xfrm>
          <a:prstGeom prst="rect">
            <a:avLst/>
          </a:prstGeom>
          <a:solidFill>
            <a:srgbClr val="EFEFE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5133320" y="579729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5791688" y="579729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6450056" y="5797296"/>
            <a:ext cx="658368" cy="429768"/>
          </a:xfrm>
          <a:prstGeom prst="rect">
            <a:avLst/>
          </a:prstGeom>
          <a:solidFill>
            <a:srgbClr val="434D5B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BC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81082" y="327975"/>
            <a:ext cx="11396268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26"/>
              </a:lnSpc>
            </a:pPr>
            <a:r>
              <a:rPr lang="en-US" b="true" sz="7194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Calidad y Seguridad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3419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Validación de usuarios y estudiantes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Autenticación segura con control de accesos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Validación de tarjetas y tótems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Uso de datos sintéticos en desarrollo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66244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Prevención de registros duplicados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Manejo de errores de comunicación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Revisión de estabilidad y consistencia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Control de eventos repetidos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5793" y="5772055"/>
            <a:ext cx="4678049" cy="10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Pruebas funcionales e integración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Pruebas funcionales con datos ficticios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Validación de flujo completo NFC→API→BD</a:t>
            </a:r>
          </a:p>
          <a:p>
            <a:pPr algn="just" marL="0" indent="0" lvl="0">
              <a:lnSpc>
                <a:spcPts val="2098"/>
              </a:lnSpc>
            </a:pPr>
            <a:r>
              <a:rPr lang="en-US" sz="14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Corrección y documentación de hallazgos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13419" y="4206921"/>
            <a:ext cx="4678049" cy="1067043"/>
            <a:chOff x="0" y="0"/>
            <a:chExt cx="1232079" cy="281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66244" y="4206921"/>
            <a:ext cx="4678049" cy="1067043"/>
            <a:chOff x="0" y="0"/>
            <a:chExt cx="1232079" cy="281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15793" y="4206921"/>
            <a:ext cx="4678049" cy="1067043"/>
            <a:chOff x="0" y="0"/>
            <a:chExt cx="1232079" cy="281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2079" cy="281032"/>
            </a:xfrm>
            <a:custGeom>
              <a:avLst/>
              <a:gdLst/>
              <a:ahLst/>
              <a:cxnLst/>
              <a:rect r="r" b="b" t="t" l="l"/>
              <a:pathLst>
                <a:path h="281032" w="1232079">
                  <a:moveTo>
                    <a:pt x="64543" y="0"/>
                  </a:moveTo>
                  <a:lnTo>
                    <a:pt x="1167536" y="0"/>
                  </a:lnTo>
                  <a:cubicBezTo>
                    <a:pt x="1203182" y="0"/>
                    <a:pt x="1232079" y="28897"/>
                    <a:pt x="1232079" y="64543"/>
                  </a:cubicBezTo>
                  <a:lnTo>
                    <a:pt x="1232079" y="216489"/>
                  </a:lnTo>
                  <a:cubicBezTo>
                    <a:pt x="1232079" y="252135"/>
                    <a:pt x="1203182" y="281032"/>
                    <a:pt x="1167536" y="281032"/>
                  </a:cubicBezTo>
                  <a:lnTo>
                    <a:pt x="64543" y="281032"/>
                  </a:lnTo>
                  <a:cubicBezTo>
                    <a:pt x="28897" y="281032"/>
                    <a:pt x="0" y="252135"/>
                    <a:pt x="0" y="216489"/>
                  </a:cubicBezTo>
                  <a:lnTo>
                    <a:pt x="0" y="64543"/>
                  </a:lnTo>
                  <a:cubicBezTo>
                    <a:pt x="0" y="28897"/>
                    <a:pt x="28897" y="0"/>
                    <a:pt x="64543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32079" cy="328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61473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🔐 Acceso y Validación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4298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1900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🛡️ Integridad de Datos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3847" y="4513747"/>
            <a:ext cx="344657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7"/>
              </a:lnSpc>
            </a:pPr>
            <a:r>
              <a:rPr lang="en-US" b="true" sz="2398">
                <a:solidFill>
                  <a:srgbClr val="212121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✅ Pruebas y Calidad</a:t>
            </a:r>
          </a:p>
        </p:txBody>
      </p:sp>
      <p:sp>
        <p:nvSpPr>
          <p:cNvPr name="AutoShape 21" id="21"/>
          <p:cNvSpPr/>
          <p:nvPr/>
        </p:nvSpPr>
        <p:spPr>
          <a:xfrm>
            <a:off x="6565368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22" id="22"/>
          <p:cNvSpPr/>
          <p:nvPr/>
        </p:nvSpPr>
        <p:spPr>
          <a:xfrm>
            <a:off x="11849655" y="3901003"/>
            <a:ext cx="827696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5425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76350" y="295275"/>
            <a:ext cx="11401425" cy="102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7225">
                <a:solidFill>
                  <a:srgbClr val="21212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Intereses Profesionales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350" y="1371600"/>
            <a:ext cx="11430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Relación del proyecto con el desarrollo profesional en Ingeniería en Informática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71650" y="7667625"/>
            <a:ext cx="45339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0"/>
              </a:lnSpc>
            </a:pPr>
            <a:r>
              <a:rPr lang="en-US" sz="15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Sistema de Asistencia NFC/RFID | Página 16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14500" y="2095500"/>
            <a:ext cx="4572000" cy="4191000"/>
            <a:chOff x="0" y="0"/>
            <a:chExt cx="6096000" cy="558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6096000">
                  <a:moveTo>
                    <a:pt x="558800" y="0"/>
                  </a:moveTo>
                  <a:lnTo>
                    <a:pt x="5537200" y="0"/>
                  </a:lnTo>
                  <a:cubicBezTo>
                    <a:pt x="5845817" y="0"/>
                    <a:pt x="6096000" y="250183"/>
                    <a:pt x="6096000" y="558800"/>
                  </a:cubicBezTo>
                  <a:lnTo>
                    <a:pt x="6096000" y="5029200"/>
                  </a:lnTo>
                  <a:cubicBezTo>
                    <a:pt x="6096000" y="5337817"/>
                    <a:pt x="5845817" y="5588000"/>
                    <a:pt x="5537200" y="5588000"/>
                  </a:cubicBezTo>
                  <a:lnTo>
                    <a:pt x="558800" y="5588000"/>
                  </a:lnTo>
                  <a:cubicBezTo>
                    <a:pt x="250183" y="5588000"/>
                    <a:pt x="0" y="5337817"/>
                    <a:pt x="0" y="5029200"/>
                  </a:cubicBezTo>
                  <a:lnTo>
                    <a:pt x="0" y="558800"/>
                  </a:ln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096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095500"/>
            <a:ext cx="4572000" cy="76200"/>
            <a:chOff x="0" y="0"/>
            <a:chExt cx="60960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096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05000" y="2324100"/>
            <a:ext cx="4191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C5F8A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💻 Desarrollo de 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5000" y="2705100"/>
            <a:ext cx="4191000" cy="164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Experiencia práctica en Backend con Python y Flask.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Diseño e implementación de API REST.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Desarrollo de aplicaciones web responsivas.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Integración de componentes de software.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Aplicación de buenas prácticas de desarrollo.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0" y="2095500"/>
            <a:ext cx="4572000" cy="4191000"/>
            <a:chOff x="0" y="0"/>
            <a:chExt cx="6096000" cy="558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6096000">
                  <a:moveTo>
                    <a:pt x="558800" y="0"/>
                  </a:moveTo>
                  <a:lnTo>
                    <a:pt x="5537200" y="0"/>
                  </a:lnTo>
                  <a:cubicBezTo>
                    <a:pt x="5845817" y="0"/>
                    <a:pt x="6096000" y="250183"/>
                    <a:pt x="6096000" y="558800"/>
                  </a:cubicBezTo>
                  <a:lnTo>
                    <a:pt x="6096000" y="5029200"/>
                  </a:lnTo>
                  <a:cubicBezTo>
                    <a:pt x="6096000" y="5337817"/>
                    <a:pt x="5845817" y="5588000"/>
                    <a:pt x="5537200" y="5588000"/>
                  </a:cubicBezTo>
                  <a:lnTo>
                    <a:pt x="558800" y="5588000"/>
                  </a:lnTo>
                  <a:cubicBezTo>
                    <a:pt x="250183" y="5588000"/>
                    <a:pt x="0" y="5337817"/>
                    <a:pt x="0" y="5029200"/>
                  </a:cubicBezTo>
                  <a:lnTo>
                    <a:pt x="0" y="558800"/>
                  </a:ln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96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67500" y="2095500"/>
            <a:ext cx="4572000" cy="76200"/>
            <a:chOff x="0" y="0"/>
            <a:chExt cx="6096000" cy="10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96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858000" y="2324100"/>
            <a:ext cx="4191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🗄️ Arquitectura y Datos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58000" y="2705100"/>
            <a:ext cx="4191000" cy="164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Diseño de bases de datos relacionales (SQLite).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Modelamiento de datos para sistemas transaccionales.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Integración de sistemas informáticos.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Gestión de información centralizada.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Arquitectura de soluciones en capas.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20500" y="2095500"/>
            <a:ext cx="4572000" cy="4191000"/>
            <a:chOff x="0" y="0"/>
            <a:chExt cx="6096000" cy="558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6096000">
                  <a:moveTo>
                    <a:pt x="558800" y="0"/>
                  </a:moveTo>
                  <a:lnTo>
                    <a:pt x="5537200" y="0"/>
                  </a:lnTo>
                  <a:cubicBezTo>
                    <a:pt x="5845817" y="0"/>
                    <a:pt x="6096000" y="250183"/>
                    <a:pt x="6096000" y="558800"/>
                  </a:cubicBezTo>
                  <a:lnTo>
                    <a:pt x="6096000" y="5029200"/>
                  </a:lnTo>
                  <a:cubicBezTo>
                    <a:pt x="6096000" y="5337817"/>
                    <a:pt x="5845817" y="5588000"/>
                    <a:pt x="5537200" y="5588000"/>
                  </a:cubicBezTo>
                  <a:lnTo>
                    <a:pt x="558800" y="5588000"/>
                  </a:lnTo>
                  <a:cubicBezTo>
                    <a:pt x="250183" y="5588000"/>
                    <a:pt x="0" y="5337817"/>
                    <a:pt x="0" y="5029200"/>
                  </a:cubicBezTo>
                  <a:lnTo>
                    <a:pt x="0" y="558800"/>
                  </a:lnTo>
                  <a:cubicBezTo>
                    <a:pt x="0" y="250183"/>
                    <a:pt x="250183" y="0"/>
                    <a:pt x="558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96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20500" y="2095500"/>
            <a:ext cx="4572000" cy="76200"/>
            <a:chOff x="0" y="0"/>
            <a:chExt cx="6096000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6BB3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96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811000" y="2324100"/>
            <a:ext cx="4191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6BB3E0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🌍 Tecnología con Impacto Real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11000" y="2705100"/>
            <a:ext cx="4191000" cy="191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Resolución de una problemática real de un establecimiento educacional.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Aplicación de conocimientos académicos en un contexto concreto.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Desarrollo de una solución tecnológica integral.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Experiencia en el ciclo completo de un proyecto de software.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76500" y="6619875"/>
            <a:ext cx="133350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i="true">
                <a:solidFill>
                  <a:srgbClr val="2C5F8A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"Este proyecto permite transformar conocimientos académicos en experiencia práctica, desarrollando una solución tecnológica aplicada a una necesidad real."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5425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76350" y="295275"/>
            <a:ext cx="11401425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20"/>
              </a:lnSpc>
            </a:pPr>
            <a:r>
              <a:rPr lang="en-US" sz="7200">
                <a:solidFill>
                  <a:srgbClr val="21212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Trabajo en Equipo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6350" y="1572768"/>
            <a:ext cx="11430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Distribución de responsabilidades y colaboración en 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71650" y="7667625"/>
            <a:ext cx="45339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0"/>
              </a:lnSpc>
            </a:pPr>
            <a:r>
              <a:rPr lang="en-US" sz="155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Sistema de Asistencia NFC/RFID | Página 17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14500" y="2000250"/>
            <a:ext cx="4381500" cy="3619500"/>
            <a:chOff x="0" y="0"/>
            <a:chExt cx="5842000" cy="482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42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5842000">
                  <a:moveTo>
                    <a:pt x="482600" y="0"/>
                  </a:moveTo>
                  <a:lnTo>
                    <a:pt x="5359400" y="0"/>
                  </a:lnTo>
                  <a:cubicBezTo>
                    <a:pt x="5625933" y="0"/>
                    <a:pt x="5842000" y="216067"/>
                    <a:pt x="5842000" y="482600"/>
                  </a:cubicBezTo>
                  <a:lnTo>
                    <a:pt x="5842000" y="4343400"/>
                  </a:lnTo>
                  <a:cubicBezTo>
                    <a:pt x="5842000" y="4609933"/>
                    <a:pt x="5625933" y="4826000"/>
                    <a:pt x="53594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842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000250"/>
            <a:ext cx="4381500" cy="76200"/>
            <a:chOff x="0" y="0"/>
            <a:chExt cx="58420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42000" cy="101600"/>
            </a:xfrm>
            <a:custGeom>
              <a:avLst/>
              <a:gdLst/>
              <a:ahLst/>
              <a:cxnLst/>
              <a:rect r="r" b="b" t="t" l="l"/>
              <a:pathLst>
                <a:path h="1016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842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05000" y="2190750"/>
            <a:ext cx="4000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2C5F8A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🔧 Lucas Baeza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5000" y="2562225"/>
            <a:ext cx="4000500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66666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Hardware, IoT y montaje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5000" y="2857500"/>
            <a:ext cx="4000500" cy="191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Programación del ESP32 DevKit V1.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Configuración del lector PN532.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Comunicación Wi-Fi con la API.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Montaje del tótem y periféricos.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Integración del buzzer y alimentación.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Pruebas de lectura de tarjetas NFC/RFID.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77000" y="2000250"/>
            <a:ext cx="4381500" cy="3619500"/>
            <a:chOff x="0" y="0"/>
            <a:chExt cx="5842000" cy="482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42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5842000">
                  <a:moveTo>
                    <a:pt x="482600" y="0"/>
                  </a:moveTo>
                  <a:lnTo>
                    <a:pt x="5359400" y="0"/>
                  </a:lnTo>
                  <a:cubicBezTo>
                    <a:pt x="5625933" y="0"/>
                    <a:pt x="5842000" y="216067"/>
                    <a:pt x="5842000" y="482600"/>
                  </a:cubicBezTo>
                  <a:lnTo>
                    <a:pt x="5842000" y="4343400"/>
                  </a:lnTo>
                  <a:cubicBezTo>
                    <a:pt x="5842000" y="4609933"/>
                    <a:pt x="5625933" y="4826000"/>
                    <a:pt x="53594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842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7000" y="2000250"/>
            <a:ext cx="4381500" cy="76200"/>
            <a:chOff x="0" y="0"/>
            <a:chExt cx="5842000" cy="10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42000" cy="101600"/>
            </a:xfrm>
            <a:custGeom>
              <a:avLst/>
              <a:gdLst/>
              <a:ahLst/>
              <a:cxnLst/>
              <a:rect r="r" b="b" t="t" l="l"/>
              <a:pathLst>
                <a:path h="1016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A90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842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67500" y="2190750"/>
            <a:ext cx="4000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4A90D9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🎨 Samantha Tapia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0" y="2562225"/>
            <a:ext cx="4000500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66666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Software, API y datos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7500" y="2857500"/>
            <a:ext cx="4000500" cy="164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Modelamiento de base de datos SQLite.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Backend Python/Flask y API REST.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Reglas de asistencia y validaciones.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Desarrollo del panel administrativo web.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Reportes y exportación de datos.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Pruebas de API y documentación técnica.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0" y="2000250"/>
            <a:ext cx="5143500" cy="3619500"/>
            <a:chOff x="0" y="0"/>
            <a:chExt cx="6858000" cy="482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58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858000">
                  <a:moveTo>
                    <a:pt x="482600" y="0"/>
                  </a:moveTo>
                  <a:lnTo>
                    <a:pt x="6375400" y="0"/>
                  </a:lnTo>
                  <a:cubicBezTo>
                    <a:pt x="6641933" y="0"/>
                    <a:pt x="6858000" y="216067"/>
                    <a:pt x="6858000" y="482600"/>
                  </a:cubicBezTo>
                  <a:lnTo>
                    <a:pt x="6858000" y="4343400"/>
                  </a:lnTo>
                  <a:cubicBezTo>
                    <a:pt x="6858000" y="4609933"/>
                    <a:pt x="6641933" y="4826000"/>
                    <a:pt x="63754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858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30000" y="2000250"/>
            <a:ext cx="5143500" cy="76200"/>
            <a:chOff x="0" y="0"/>
            <a:chExt cx="68580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5A9E6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85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620500" y="2190750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5A9E6F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🤝 Trabajo Colaborativo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20500" y="2562225"/>
            <a:ext cx="4762500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666666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Actividades compartidas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20500" y="2857500"/>
            <a:ext cx="4762500" cy="191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Levantamiento de requerimientos.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Planificación y seguimiento del proyecto.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Integración de componentes del sistema.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Pruebas de integración y validación.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Resolución conjunta de problemas.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Documentación técnica del proyecto.</a:t>
            </a:r>
          </a:p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• Preparación de la presentación final.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76500" y="6048375"/>
            <a:ext cx="1333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i="true">
                <a:solidFill>
                  <a:srgbClr val="2C5F8A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"La colaboración efectiva entre ambos integrantes garantiza la calidad, integración y coherencia de todos los componentes del sistema."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494272"/>
            <a:ext cx="18288000" cy="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flipV="true">
            <a:off x="1023938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 flipV="true">
            <a:off x="8808957" y="0"/>
            <a:ext cx="0" cy="10287000"/>
          </a:xfrm>
          <a:prstGeom prst="line">
            <a:avLst/>
          </a:prstGeom>
          <a:ln cap="flat" w="9525">
            <a:solidFill>
              <a:srgbClr val="21212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281082" y="299400"/>
            <a:ext cx="11396268" cy="83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08"/>
              </a:lnSpc>
            </a:pPr>
            <a:r>
              <a:rPr lang="en-US" b="true" sz="5951">
                <a:solidFill>
                  <a:srgbClr val="212121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Resultados Esperados y Cierre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72248" y="7666384"/>
            <a:ext cx="4530281" cy="2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64"/>
              </a:lnSpc>
            </a:pPr>
            <a:r>
              <a:rPr lang="en-US" sz="1546">
                <a:solidFill>
                  <a:srgbClr val="212121"/>
                </a:solidFill>
                <a:latin typeface="IBM Plex Sans Thai Light"/>
                <a:ea typeface="IBM Plex Sans Thai Light"/>
                <a:cs typeface="IBM Plex Sans Thai Light"/>
                <a:sym typeface="IBM Plex Sans Thai Light"/>
              </a:rPr>
              <a:t>Sistema de Asistencia NFC/RFID | Cierre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555" y="3010913"/>
            <a:ext cx="6517202" cy="264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Automatización del registro de asistencia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Reducción de errores y tiempos administrativos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Información centralizada para consulta de asistencias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Acceso rápido a históricos y reportes por filtros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Base tecnológica escalable para futuras mejoras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✅ Integración propuesta: hardware, API, base de datos y panel web</a:t>
            </a:r>
          </a:p>
          <a:p>
            <a:pPr algn="l" marL="0" indent="0" lvl="0">
              <a:lnSpc>
                <a:spcPts val="2378"/>
              </a:lnSpc>
            </a:pPr>
            <a:r>
              <a:rPr lang="en-US" sz="1698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"Una solución tecnológica para mejorar la eficiencia, trazabilidad y gestión de la asistencia escolar."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44200" y="6753225"/>
            <a:ext cx="6524625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¿Preguntas?</a:t>
            </a:r>
          </a:p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Lucas Baeza</a:t>
            </a:r>
          </a:p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Samantha Tapia</a:t>
            </a:r>
          </a:p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Ingeniería en Informática – Duoc UC</a:t>
            </a:r>
          </a:p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21212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Proyecto APT – Capstone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DAHT6vEqBos</dc:identifier>
  <dcterms:modified xsi:type="dcterms:W3CDTF">2011-08-01T06:04:30Z</dcterms:modified>
  <cp:revision>1</cp:revision>
  <dc:title>Sistema de Asistencia NFC/RFID Escolar</dc:title>
</cp:coreProperties>
</file>